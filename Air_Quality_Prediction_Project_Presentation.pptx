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 RMSE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Delhi</c:v>
                </c:pt>
                <c:pt idx="1">
                  <c:v>Hyderabad</c:v>
                </c:pt>
                <c:pt idx="2">
                  <c:v>Bengaluru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73.45</c:v>
                </c:pt>
                <c:pt idx="1">
                  <c:v>15.29</c:v>
                </c:pt>
                <c:pt idx="2">
                  <c:v>24.08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4F7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4F7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 val="0"/>
        <c:axPos val="l"/>
        <c:majorGridlines>
          <c:spPr>
            <a:ln>
              <a:solidFill>
                <a:srgbClr val="46566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4F7F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FC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146304"/>
          </a:xfrm>
          <a:prstGeom prst="rect">
            <a:avLst/>
          </a:prstGeom>
          <a:solidFill>
            <a:srgbClr val="FAC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1695" cy="146304"/>
          </a:xfrm>
          <a:prstGeom prst="rect">
            <a:avLst/>
          </a:prstGeom>
          <a:solidFill>
            <a:srgbClr val="F4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8912"/>
            <a:ext cx="12191695" cy="146304"/>
          </a:xfrm>
          <a:prstGeom prst="rect">
            <a:avLst/>
          </a:prstGeom>
          <a:solidFill>
            <a:srgbClr val="E9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858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 Display"/>
              </a:rPr>
              <a:t>Air Quality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0408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5C2D6"/>
                </a:solidFill>
                <a:latin typeface="Aptos"/>
              </a:rPr>
              <a:t>End-to-end project presentation: data ingestion, preprocessing, ML training, Airflow orchestration, dashboarding, Docker deployment, and Raspberry Pi production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100584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BC0BE"/>
                </a:solidFill>
                <a:latin typeface="Aptos"/>
              </a:rPr>
              <a:t>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97480"/>
            <a:ext cx="109728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4A650"/>
                </a:solidFill>
                <a:latin typeface="Aptos"/>
              </a:rPr>
              <a:t>Airflow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697480"/>
            <a:ext cx="105156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FC984"/>
                </a:solidFill>
                <a:latin typeface="Aptos"/>
              </a:rPr>
              <a:t>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697480"/>
            <a:ext cx="150876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CD4F4F"/>
                </a:solidFill>
                <a:latin typeface="Aptos"/>
              </a:rPr>
              <a:t>Raspberry 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697480"/>
            <a:ext cx="114300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BC0BE"/>
                </a:solidFill>
                <a:latin typeface="Aptos"/>
              </a:rPr>
              <a:t>Next.js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914400"/>
            <a:ext cx="3794760" cy="4297680"/>
          </a:xfrm>
          <a:prstGeom prst="roundRect">
            <a:avLst/>
          </a:prstGeom>
          <a:solidFill>
            <a:srgbClr val="121E32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5FC984"/>
                </a:solidFill>
                <a:latin typeface="Aptos"/>
              </a:rPr>
              <a:t>Project goal: </a:t>
            </a:r>
            <a:r>
              <a:rPr sz="1300">
                <a:solidFill>
                  <a:srgbClr val="F4F7FC"/>
                </a:solidFill>
                <a:latin typeface="Aptos"/>
              </a:rPr>
              <a:t>Forecast AQI and pollutants for city-level decision support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4A650"/>
                </a:solidFill>
                <a:latin typeface="Aptos"/>
              </a:rPr>
              <a:t>Training stack: </a:t>
            </a:r>
            <a:r>
              <a:rPr sz="1300">
                <a:solidFill>
                  <a:srgbClr val="F4F7FC"/>
                </a:solidFill>
                <a:latin typeface="Aptos"/>
              </a:rPr>
              <a:t>Classical ML and deep learning models were benchmarked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5BC0BE"/>
                </a:solidFill>
                <a:latin typeface="Aptos"/>
              </a:rPr>
              <a:t>Production stack: </a:t>
            </a:r>
            <a:r>
              <a:rPr sz="1300">
                <a:solidFill>
                  <a:srgbClr val="F4F7FC"/>
                </a:solidFill>
                <a:latin typeface="Aptos"/>
              </a:rPr>
              <a:t>Pi-hosted Docker Compose with Airflow + dashboard + PostgreSQL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C05E"/>
                </a:solidFill>
                <a:latin typeface="Aptos"/>
              </a:rPr>
              <a:t>Live interface: </a:t>
            </a:r>
            <a:r>
              <a:rPr sz="1300">
                <a:solidFill>
                  <a:srgbClr val="F4F7FC"/>
                </a:solidFill>
                <a:latin typeface="Aptos"/>
              </a:rPr>
              <a:t>Dashboard surfaces observations, predictions, and health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349240"/>
            <a:ext cx="3383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5C2D6"/>
                </a:solidFill>
                <a:latin typeface="Aptos"/>
              </a:rPr>
              <a:t>Final year project | verified on the Pi production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What the project does, how it was built, and how it runs in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09960" cy="457200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24128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Problem statement and project objectives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Data sources and preprocessing pipeline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Model training, baselines, and benchmark comparisons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Airflow orchestration for ingestion and forecasts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Dockerized Raspberry Pi deployment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Next.js dashboard, API routes, and live monitoring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>
                <a:solidFill>
                  <a:srgbClr val="F4F7FC"/>
                </a:solidFill>
                <a:latin typeface="Aptos"/>
              </a:rPr>
              <a:t>Verification results, lessons learned,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Problem Statement and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Why this project exists and what the end-user should get from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440680" cy="4846320"/>
          </a:xfrm>
          <a:prstGeom prst="roundRect">
            <a:avLst/>
          </a:prstGeom>
          <a:solidFill>
            <a:srgbClr val="101B2D"/>
          </a:solidFill>
          <a:ln w="15875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5720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Air quality changes quickly and is difficult to interpret from raw sensor values alone.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The data is noisy, has gaps, and comes from multiple pipelines and frequencies.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A production system must combine forecasting, health context, and operator visibility.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The project therefore needs both an ML model and a user-facing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Project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Build cleaned time-series datasets for training and evaluation.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Train and compare multiple forecasting models.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Automate ingestion and prediction with Airflow on the 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Expose live observations and forecasts through a dashboard and APIs.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Deploy the full stack in Docker so it can run consistently on the Raspberry 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Data Sources and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The raw data is cleaned before any model training or dashboard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1828800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F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Raw inputs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feeds.csv, ThingSpeak feeds, city observation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64208"/>
            <a:ext cx="1828800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Timestamp handling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Detect datetime column, sort index, normalize to UTC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8032" y="1664208"/>
            <a:ext cx="1828800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AC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Cleaning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Rename fields, coerce numeric types, drop null columns, mark outliers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67144" y="1664208"/>
            <a:ext cx="1828800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Imputation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Rolling mean, forward-fill, backward-fill for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64208"/>
            <a:ext cx="2194560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CD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Resample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Standardize to 15-minute or hourly series for 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185416"/>
            <a:ext cx="210312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17720" y="2185416"/>
            <a:ext cx="210312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56832" y="2185416"/>
            <a:ext cx="210312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95944" y="2185416"/>
            <a:ext cx="210312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5BC0BE"/>
                </a:solidFill>
                <a:latin typeface="Aptos"/>
              </a:rPr>
              <a:t>Preprocessing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47548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Automatic datetime detection prevents manual column errors.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Outliers are replaced with missing values before filling.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Aggregation produces stable windows for downstream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A650"/>
                </a:solidFill>
                <a:latin typeface="Aptos"/>
              </a:rPr>
              <a:t>Artifacts used in the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401568"/>
            <a:ext cx="45720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phase1_2_air_quality.ipynb for loading, cleaning, and resampling.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feeds_cleaned_15T.csv and feeds_cleaned.csv for processed training data.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Analysis notebooks for city-level QA and benchmark generation.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Model Training and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Multiple model families were compared before deciding what to deploy on the 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66928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257800" cy="4846320"/>
          </a:xfrm>
          <a:prstGeom prst="roundRect">
            <a:avLst/>
          </a:prstGeom>
          <a:solidFill>
            <a:srgbClr val="101B2D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Training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493776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Input window: 168 hours of history; forecast horizon: 24 hours.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Train/validation/test split: 70/15/15 with StandardScaler on the feature set.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Baselines: persistence, Random Forest, SVR, XGBoost, LightGBM, CatBoost.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Deep learning experiments: LSTM, CNN, BiLSTM, TCN, Transformer/TFT variants.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Metrics: RMSE, MAE, R2, and drift-oriented evaluation such as MAPE.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Why multiple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10512"/>
            <a:ext cx="448056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Classical ML gives strong performance with easy Pi deployment.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Deep learning provides a research baseline and can capture sequence effects.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final deployment chooses models that are accurate and ARM-friendly.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Saved artifacts include .joblib and .pth files plus model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Benchmark Results and Model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The best model differs by city, so the deployment uses the city-specific winner.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486400" cy="4846320"/>
          </a:xfrm>
          <a:prstGeom prst="roundRect">
            <a:avLst/>
          </a:prstGeom>
          <a:solidFill>
            <a:srgbClr val="101B2D"/>
          </a:solidFill>
          <a:ln w="15875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Best deployed models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74519"/>
          <a:ext cx="4983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996696"/>
                <a:gridCol w="996696"/>
                <a:gridCol w="99669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City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R2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Delhi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LightGBM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73.45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44.85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0.65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Hyderabad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15.29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10.63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0.59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Bengaluru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CatBoost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24.08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15.52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0.28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8" y="4160520"/>
            <a:ext cx="4754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A650"/>
                </a:solidFill>
                <a:latin typeface="Aptos"/>
              </a:rPr>
              <a:t>Production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25696"/>
            <a:ext cx="48006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Classical ML models are fast to load and run on Raspberry 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They avoid CUDA and heavyweight PyTorch dependencies in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RMSE comparison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46520" y="1874519"/>
          <a:ext cx="47548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Production Deployment on Raspberry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The live stack runs in Docker Compose on the Pi and serves both Airflow and the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Services in the Pi 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74519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F7FC"/>
                          </a:solidFill>
                          <a:latin typeface="Aptos"/>
                        </a:rPr>
                        <a:t>Port</a:t>
                      </a:r>
                    </a:p>
                  </a:txBody>
                  <a:tcPr>
                    <a:solidFill>
                      <a:srgbClr val="1B2B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Stores observations and forecast data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5432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Airflow webserver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Shows DAG status and run history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8080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Airflow scheduler / triggerer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Runs ingestion and forecasting jobs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internal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Dashboard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Serves the Next.js UI and APIs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4F7FC"/>
                          </a:solidFill>
                          <a:latin typeface="Aptos"/>
                        </a:rPr>
                        <a:t>3000</a:t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508760"/>
            <a:ext cx="4023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Why Docker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384048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same compose file brings up the whole stack consistently.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Repo-root mounts keep the code and data paths aligned on the 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Health checks and service ordering reduce startup issues.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dashboard builds and starts automatically in the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617720"/>
            <a:ext cx="132588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FC984"/>
                </a:solidFill>
                <a:latin typeface="Aptos"/>
              </a:rPr>
              <a:t>Pi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4617720"/>
            <a:ext cx="146304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BC0BE"/>
                </a:solidFill>
                <a:latin typeface="Aptos"/>
              </a:rPr>
              <a:t>Airflow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4617720"/>
            <a:ext cx="109728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4A650"/>
                </a:solidFill>
                <a:latin typeface="Aptos"/>
              </a:rPr>
              <a:t>Dashboard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Airflow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Airflow handles ingestion, forecasting, and refresh cycles so the system stays automated.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1874519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F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Ingest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Open-Meteo / city data fetched on 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828800"/>
            <a:ext cx="1874519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Normalize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Timestamp handling, upserts, archival, and watermark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1828800"/>
            <a:ext cx="1874519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AC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Forecast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Load latest window and generate city-specific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1828800"/>
            <a:ext cx="1874519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Store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Persist outputs for dashboard/API consumption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1828800"/>
            <a:ext cx="1874519" cy="105156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CD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Monitor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Run health checks and trigger retraining when drift grows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2350008"/>
            <a:ext cx="22860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27448" y="2350008"/>
            <a:ext cx="22860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30568" y="2350008"/>
            <a:ext cx="22860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33688" y="2350008"/>
            <a:ext cx="228600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333756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Key DAG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639312"/>
            <a:ext cx="48463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The forecast DAG runs hourly at 15 minutes past the hour.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Tasks are separated into generation and loading steps.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Retries and logging are built in for operational stability.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337560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Files on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639312"/>
            <a:ext cx="49377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aq_forecast_dag.py defines the hourly forecasting workflow.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deployment/pi_airflow/docker-compose.yml brings the stack up on the 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deployment_models/* contain the trained city models and metadata.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Dashboard and API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The Next.js app turns the ML output into usable information for people and operators.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53212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4846320"/>
          </a:xfrm>
          <a:prstGeom prst="roundRect">
            <a:avLst/>
          </a:prstGeom>
          <a:solidFill>
            <a:srgbClr val="101B2D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User-facing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7548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/dashboard/cities for the ranking grid.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/dashboard/city/[citySlug] for a single-city view.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/air-quality for AQI analysis and city comparisons.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What the UI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950208"/>
            <a:ext cx="475488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AQI category, health advisory, hourly trend, and pollutant breakdown.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Forecast timeline and model summary for the selected 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API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57200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/api/status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/api/observations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/api/observations/[citySlug]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>
                <a:solidFill>
                  <a:srgbClr val="F4F7FC"/>
                </a:solidFill>
                <a:latin typeface="Aptos"/>
              </a:rPr>
              <a:t>/api/predictions/[citySlug]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70332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Why the route fixes mattered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995928"/>
            <a:ext cx="457200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City slugs are normalized to warehouse slugs before querying the DB.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That keeps the API aligned with the actual data model and the Pi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From raw data to forecasts to the production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1783080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F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Sensors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ThingSpeak / Open-Meteo / feeds.csv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828800"/>
            <a:ext cx="1783080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Airflow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Schedules, retries, and ETL jobs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1828800"/>
            <a:ext cx="1783080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AC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PostgreSQL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Observations + forecast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1783080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ML models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LightGBM, XGBoost, CatBoost, DL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50224" y="1828800"/>
            <a:ext cx="1783080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CD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Next.js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APIs + dashboard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25328" y="1828800"/>
            <a:ext cx="713232" cy="1005840"/>
          </a:xfrm>
          <a:prstGeom prst="roundRect">
            <a:avLst/>
          </a:prstGeom>
          <a:solidFill>
            <a:srgbClr val="1B2B46"/>
          </a:solidFill>
          <a:ln w="19050">
            <a:solidFill>
              <a:srgbClr val="5FC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300" b="1">
                <a:solidFill>
                  <a:srgbClr val="F4F7FC"/>
                </a:solidFill>
                <a:latin typeface="Aptos Display"/>
              </a:rPr>
              <a:t>User</a:t>
            </a:r>
          </a:p>
          <a:p>
            <a:pPr algn="ctr"/>
            <a:r>
              <a:rPr sz="1000">
                <a:solidFill>
                  <a:srgbClr val="B5C2D6"/>
                </a:solidFill>
                <a:latin typeface="Aptos"/>
              </a:rPr>
              <a:t>Live 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32888" y="2331720"/>
            <a:ext cx="192024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07992" y="2331720"/>
            <a:ext cx="192024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83096" y="2331720"/>
            <a:ext cx="192024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58200" y="2331720"/>
            <a:ext cx="192024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33304" y="2331720"/>
            <a:ext cx="192024" cy="0"/>
          </a:xfrm>
          <a:prstGeom prst="line">
            <a:avLst/>
          </a:prstGeom>
          <a:ln w="25400">
            <a:solidFill>
              <a:srgbClr val="5BC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520440"/>
            <a:ext cx="102412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F4F7FC"/>
                </a:solidFill>
                <a:latin typeface="Aptos"/>
              </a:rPr>
              <a:t>The architecture separates scheduling, storage, training, and display. That makes the system easier to reason about, easier to deploy on the Pi, and safer to update without breaking the user-facing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Verification and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What was checked after the code and deployment updates.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0996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Verified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51206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Local production build completed successfully.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Pi services were up: Airflow webserver, scheduler, triggerer, PostgreSQL, and dashboard.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dashboard container started and served on port 3000.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Airflow health checks showed healthy scheduler and triggerer status.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Live observations endpoint returned current AQI ranking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5720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stack is not just documented; it is running on the Pi.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route fixes are consistent with the deployed data model.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remaining warning in the status snapshot is about missing paths, not a broken core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114300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FC984"/>
                </a:solidFill>
                <a:latin typeface="Aptos"/>
              </a:rPr>
              <a:t>Build 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572000"/>
            <a:ext cx="146304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BC0BE"/>
                </a:solidFill>
                <a:latin typeface="Aptos"/>
              </a:rPr>
              <a:t>Airflow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17152" y="4572000"/>
            <a:ext cx="137160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4A650"/>
                </a:solidFill>
                <a:latin typeface="Aptos"/>
              </a:rPr>
              <a:t>Dashboard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98480" y="4572000"/>
            <a:ext cx="82296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CD4F4F"/>
                </a:solidFill>
                <a:latin typeface="Aptos"/>
              </a:rPr>
              <a:t>AQ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 Display"/>
              </a:rPr>
              <a:t>Lessons Learned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B5C2D6"/>
                </a:solidFill>
                <a:latin typeface="Aptos"/>
              </a:rPr>
              <a:t>The project is working; the remaining work is mostly product hardening and analytics depth.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11430000" cy="36576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0" y="182880"/>
            <a:ext cx="749808" cy="347472"/>
          </a:xfrm>
          <a:prstGeom prst="roundRect">
            <a:avLst/>
          </a:prstGeom>
          <a:solidFill>
            <a:srgbClr val="1B2B46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7FC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40680" cy="4846320"/>
          </a:xfrm>
          <a:prstGeom prst="roundRect">
            <a:avLst/>
          </a:prstGeom>
          <a:solidFill>
            <a:srgbClr val="121E32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4846320"/>
          </a:xfrm>
          <a:prstGeom prst="roundRect">
            <a:avLst/>
          </a:prstGeom>
          <a:solidFill>
            <a:srgbClr val="101B2D"/>
          </a:solidFill>
          <a:ln w="15875">
            <a:solidFill>
              <a:srgbClr val="F4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BC0BE"/>
                </a:solidFill>
                <a:latin typeface="Aptos"/>
              </a:rPr>
              <a:t>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75488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City-specific model selection improved production realism.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Docker and Airflow made the Pi deployment reproducible.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F4F7FC"/>
                </a:solidFill>
                <a:latin typeface="Aptos"/>
              </a:rPr>
              <a:t>The dashboard gives a practical view of AQI and forecasts.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4048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Next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60520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Forecast history table and better accuracy tracking over time.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Materialized views and caching for faster dashboard queries.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>
                <a:solidFill>
                  <a:srgbClr val="F4F7FC"/>
                </a:solidFill>
                <a:latin typeface="Aptos"/>
              </a:rPr>
              <a:t>More comparison, charting, and mobile-first UX improvements.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5087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4A650"/>
                </a:solidFill>
                <a:latin typeface="Aptos"/>
              </a:rPr>
              <a:t>Final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20240"/>
            <a:ext cx="45720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4F7FC"/>
                </a:solidFill>
                <a:latin typeface="Aptos"/>
              </a:rPr>
              <a:t>This project is a complete air-quality prediction platform: cleaned data, benchmarked models, automated forecasts, a live dashboard, and a Raspberry Pi production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160520"/>
            <a:ext cx="150876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BC0BE"/>
                </a:solidFill>
                <a:latin typeface="Aptos"/>
              </a:rPr>
              <a:t>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160520"/>
            <a:ext cx="146304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5FC984"/>
                </a:solidFill>
                <a:latin typeface="Aptos"/>
              </a:rPr>
              <a:t>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65792" y="4160520"/>
            <a:ext cx="137160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AC05E"/>
                </a:solidFill>
                <a:latin typeface="Aptos"/>
              </a:rPr>
              <a:t>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91088" y="4160520"/>
            <a:ext cx="502920" cy="347472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CD4F4F"/>
                </a:solidFill>
                <a:latin typeface="Aptos"/>
              </a:rPr>
              <a:t>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937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5FC984"/>
                </a:solidFill>
                <a:latin typeface="Aptos Display"/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19088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B5C2D6"/>
                </a:solidFill>
                <a:latin typeface="Aptos"/>
              </a:rPr>
              <a:t>Air Quality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