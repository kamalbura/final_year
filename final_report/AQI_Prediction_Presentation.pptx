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54096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54096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904" y="0"/>
            <a:ext cx="3054096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34856" y="0"/>
            <a:ext cx="3054096" cy="635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Air Quality Index 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A5"/>
                </a:solidFill>
                <a:latin typeface="Segoe UI"/>
              </a:defRPr>
            </a:pPr>
            <a:r>
              <a:t>Deep Learning &amp; Gradient Boosting for 24-Hour AQI Forecasting — Hyderabad, Telangana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291840"/>
            <a:ext cx="3959352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Sakshith Srihari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1602-22-748-011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Kamal Bura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1602-22-748-302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Abdul Muttalib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1602-22-748-046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Segoe UI"/>
              </a:defRPr>
            </a:pPr>
            <a:r>
              <a:t>B.Tech Final Year Project  •  Department of Computer Science &amp; Engineering</a:t>
            </a:r>
            <a:br/>
            <a:r>
              <a:t>9 Model Architectures  •  PyTorch + XGBoost + LightGBM  •  Optuna HPO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457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Problem Statement &amp;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457200" cy="4114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457200" cy="411480"/>
          </a:xfrm>
          <a:prstGeom prst="round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305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Data Acquisition &amp;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84832"/>
            <a:ext cx="457200" cy="41148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305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System Architecture &amp;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06624"/>
            <a:ext cx="457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52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06624"/>
            <a:ext cx="457200" cy="4114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52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Deep Learning Models (7 Architectures)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457200" cy="411480"/>
          </a:xfrm>
          <a:prstGeom prst="round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741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Gradient Boosting Models (XGBoost + LightGBM)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28416"/>
            <a:ext cx="457200" cy="41148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741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Hyperparameter Optimization (Optuna)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50208"/>
            <a:ext cx="457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959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Training Strategy &amp; Implementation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50208"/>
            <a:ext cx="457200" cy="4114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9959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Evaluation Metrics &amp; Methodology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457200" cy="411480"/>
          </a:xfrm>
          <a:prstGeom prst="round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Data Analysis &amp; Statistics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457200" cy="41148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93792"/>
            <a:ext cx="457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39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Multi-Agent Development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193792"/>
            <a:ext cx="457200" cy="41148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239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Segoe UI"/>
              </a:defRPr>
            </a:pPr>
            <a:r>
              <a:t>Results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Why Air Quality Prediction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5603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336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Hyderabad ranks among India's most polluted cities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7.0 million premature deaths/year linked to air pollution (WHO)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Current AQI monitoring is reactive — no early warning system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Manual CPCB readings provide snapshots, not forecasts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Citizens lack actionable 24-hour pollution forecasts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24-hour ahead AQI prediction using 9 ML/DL architectures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Hourly granularity from 7 CPCB monitoring stations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Automated pipeline: data → train → evaluate → compare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India NAQI standard (6 categories, 0–500 scale)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Enable proactive health advisories &amp; policy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064240" cy="18288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06424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KEY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00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Compare 7 deep learning architectures (RNN, LSTM, BiLSTM, Attention variants, TCN, Transformer) against 2 gradient boosting models (XGBoost, LightGBM)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Achieve R² &gt; 0.85 for 24-hour AQI forecasting across all seasons and pollution categories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Automate hyperparameter optimization with Optuna (50 trials/model, TPE sampler, median pruning)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Build a reproducible, modular pipeline with multi-agent code review for production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Key Related Work in AQI Prediction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1828800"/>
                <a:gridCol w="164592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Author(s)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Barthwal et al.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 + Attention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India (Multiple)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Attention mechanism improved 24h forecast accuracy by 12% over vanilla LSTM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Sreenivasulu et al.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 + GRU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Bidirectional models captured diurnal AQI cycles better; R²=0.89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Liu et al.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Beijing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Self-attention over long sequences outperformed CNN-LSTM hybrids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Ravindiran et al.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XGBoost + DL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Gradient boosting competitive with DL for tabular AQ features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Ansari et al.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TCN + Optuna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Delhi NCR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TCN with dilated convolutions achieved best RMSE with 3× faster training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Kumar &amp; Singh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Ensemble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India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 ensembles reduced variance; no single architecture dominated all metrics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46320"/>
            <a:ext cx="1106424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1106424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37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RESEARCH GAP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578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No existing study benchmarks all 9 architectures (RNN → Transformer + GB) on the same Hyderabad dataset with unified preprocessing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Most studies use limited date ranges; our pipeline covers 2 full years (2023–2024) of hourly data from 7 stations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Optuna-driven HPO across all models ensures fair, optimized comparison — not default hyperparameters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Data Acquisition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Multi-Source Hourly Data for Hyderabad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Open-Meteo Air Quality API (CAMS global reanalysis)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Open-Meteo Archive API (historical weather data)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7 CPCB CAAQMS station coordinates for Hyderabad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No API key required — fully open &amp; reproducible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2-year period: Jan 2023 – Dec 2024 (17,544 hours/station)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463040"/>
          <a:ext cx="49377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Station</a:t>
                      </a:r>
                    </a:p>
                  </a:txBody>
                  <a:tcPr anchor="ctr"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Zone</a:t>
                      </a:r>
                    </a:p>
                  </a:txBody>
                  <a:tcPr anchor="ctr"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Lat</a:t>
                      </a:r>
                    </a:p>
                  </a:txBody>
                  <a:tcPr anchor="ctr"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Lon</a:t>
                      </a:r>
                    </a:p>
                  </a:txBody>
                  <a:tcPr anchor="ctr">
                    <a:solidFill>
                      <a:srgbClr val="FF8A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Bollaram Industrial Area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17.540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78.350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Central University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Residential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17.460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78.330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ICRISAT Patancheru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Rural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17.510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78.270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IDA Pashamylaram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17.530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78.210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Sanathnagar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Commercial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17.456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78.443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Zoo Park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Residential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17.350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78.451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Nacharam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17.428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78.554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114800"/>
            <a:ext cx="11064240" cy="21945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06424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DATASET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2628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122,808 total hourly records (7 stations × 17,544 hours each)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17 raw columns: 6 pollutants + 7 meteorological + AQI + AQI_Category + station + zone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0 missing values across all stations — CAMS reanalysis provides complete global coverage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AQI distribution: Good (22,698) | Satisfactory (60,171) | Moderate (36,670) | Poor (3,267) | Very Poor 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System 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End-to-End Modular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103120" cy="20116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1. DATA</a:t>
            </a:r>
            <a:br/>
            <a:r>
              <a:t>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Open-Meteo AQ</a:t>
            </a:r>
            <a:br/>
            <a:r>
              <a:t>+ Weather APIs</a:t>
            </a:r>
            <a:br/>
            <a:r>
              <a:t>7 stations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463040"/>
            <a:ext cx="2103120" cy="20116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19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A5"/>
                </a:solidFill>
                <a:latin typeface="Segoe UI"/>
              </a:defRPr>
            </a:pPr>
            <a:r>
              <a:t>2.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2377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Imputation</a:t>
            </a:r>
            <a:br/>
            <a:r>
              <a:t>Scaling</a:t>
            </a:r>
            <a:br/>
            <a:r>
              <a:t>Temporal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599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463040"/>
            <a:ext cx="2103120" cy="20116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A00"/>
                </a:solidFill>
                <a:latin typeface="Segoe UI"/>
              </a:defRPr>
            </a:pPr>
            <a:r>
              <a:t>3. FEATURE</a:t>
            </a:r>
            <a:br/>
            <a: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77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36 features</a:t>
            </a:r>
            <a:br/>
            <a:r>
              <a:t>Lags + Rolling</a:t>
            </a:r>
            <a:br/>
            <a:r>
              <a:t>Cyclical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463040"/>
            <a:ext cx="2103120" cy="20116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4DFF"/>
                </a:solidFill>
                <a:latin typeface="Segoe UI"/>
              </a:defRPr>
            </a:pPr>
            <a:r>
              <a:t>4. MODEL</a:t>
            </a:r>
            <a:br/>
            <a:r>
              <a:t>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377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9 architectures</a:t>
            </a:r>
            <a:br/>
            <a:r>
              <a:t>Optuna HPO</a:t>
            </a:r>
            <a:br/>
            <a:r>
              <a:t>Early stopping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463040"/>
            <a:ext cx="2103120" cy="20116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600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Segoe UI"/>
              </a:defRPr>
            </a:pPr>
            <a:r>
              <a:t>5. EVALUATION</a:t>
            </a:r>
            <a:br/>
            <a:r>
              <a:t>&amp;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377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Segoe UI"/>
              </a:defRPr>
            </a:pPr>
            <a:r>
              <a:t>RMSE, MAE, R²</a:t>
            </a:r>
            <a:br/>
            <a:r>
              <a:t>F1-score</a:t>
            </a:r>
            <a:br/>
            <a:r>
              <a:t>AQI categories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11064240" cy="25603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1106424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31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PROJECT STRUCTURE — 19 PYTHON 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25196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config.py — Central configuration (paths, features, dataclasses: DataConfig, ModelConfig, TrainConfig, OptunaConfig)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data/ — download.py (API fetching, AQI computation) | preprocessing.py (impute, scale, split) | dataset.py (PyTorch DataLoader)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models/ — model_factory.py + 9 model files: rnn.py, lstm.py, bilstm.py, lstm_attention.py, bilstm_attention.py, tcn.py, transformer.py, xgboost_model.py, lightgbm_model.py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training/ — trainer.py (PyTorch loop, AMP, gradient clipping, checkpointing) | optuna_tuner.py (unified DL+GB HPO)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evaluation/ — metrics.py (RMSE, MAE, R², MAPE, F1) | visualizer.py (loss curves, scatter plots, heatmaps, residuals)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36 Features across 4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POLLUTANT FEATURES (6)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PM2.5 — Fine particulate matter (µg/m³)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PM10 — Coarse particulate matter (µg/m³)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NO₂ — Nitrogen dioxide (µg/m³)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SO₂ — Sulphur dioxide (µg/m³)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 — Carbon monoxide (mg/m³)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O₃ — Ground-level ozone (µg/m³)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9496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39496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METEOROLOGICAL FEATURES (7)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AT — Ambient Temperature (°C)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RH — Relative Humidity (%)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WS — Wind Speed (m/s)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WD — Wind Direction (degrees)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RF — Rainfall (mm)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SR — Solar Radiation (W/m²)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BP — Barometric Pressure (hPa)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539496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539496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TEMPORAL FEATURES (11)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891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hour, day_of_week, day_of_month, month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Cyclical: hour_sin/cos, day_of_week_sin/cos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month_sin/cos — Seasonal patterns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is_weekend — Binary weekend flag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Captures diurnal &amp; seasonal AQI cycles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77639"/>
            <a:ext cx="539496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77639"/>
            <a:ext cx="53949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690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LAG &amp; ROLLING FEATURES (12)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891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AQI_lag_1, _3, _6, _12, _24, _48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AQI_rolling_mean_6, _12, _24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AQI_rolling_std_6, _12, _24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Autoregressive signal for temporal patterns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Rolling stats capture local volatility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Deep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7 Neural Architectures for Time-Series Forecasting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4114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Mechanism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RNN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Elman RNN → FC Head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Tanh activation, sequential processing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~50K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Stacked LSTM + LayerNorm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Gated memory cells (forget/input/output gates)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~200K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Bidirectional LSTM + LN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Forward + backward hidden state concatenation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~350K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LSTM+Attention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 + Bahdanau Attention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Additive attention: V·tanh(W₁h + W₂s)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~250K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BiLSTM+Attention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 + Bahdanau Attn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Attention over 2×hidden bidirectional states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~400K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TCN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Causal Dilated Conv + Residual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Exponential dilation (2⁰,2¹,...), weight norm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~150K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Encoder-only + Pos. Encoding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Multi-head self-attention + causal mask + GELU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~300K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46320"/>
            <a:ext cx="11064240" cy="14630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1106424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37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SHARED TRAINING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57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Loss: HuberLoss (δ=1.0) — robust to AQI outliers | Optimizer: AdamW (weight_decay=1e-5) | Scheduler: CosineAnnealing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Input: (batch, 72, 36) — 72-hour lookback × 36 features | Output: (batch, 24) — 24-hour AQI forecast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AMP (mixed precision) on GPU | Gradient clipping (max_norm=1.0) | Early stopping (patience=15, min_delta=1e-4)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Recurrent Architectures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RNN → LSTM → BiLSTM — Progressive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VANILLA RNN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Architecture: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Input → RNN(hidden=128, layers=2)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Dropout(0.2)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FC(128→64→ReLU→24)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Key Properties: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Tanh nonlinearity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Suffers vanishing gradients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Fastest to train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Baseline architecture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96D6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~50K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474720" cy="4572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47472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Architecture: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Input → LSTM(hidden=128, layers=2)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LayerNorm(128)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Dropout(0.2)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FC(128→64→ReLU→24)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Key Properties: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3 gates: forget, input, output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Cell state carries long-range info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LayerNorm stabilizes training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BFA5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~200K 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3474720" cy="4572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47472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BiLSTM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8745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Architecture: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Input → BiLSTM(hidden=128, layers=2)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LayerNorm(256)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Dropout(0.2)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FC(256→128→ReLU→24)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Key Properties: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Forward + backward passes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Output dim = 2 × hidden_dim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Captures future context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~350K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Attention Mechanisms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Bahdanau (Additive) Attention over Temporal States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BAHDANAU ATTENTION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Score: eᵢ = Vᵀ · tanh(W₁ · hᵢ + W₂ · 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hᵢ = encoder hidden states (all timesteps)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s = decoder state (last hidden state)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Weights: αᵢ = softmax(eᵢ)  → attention distribution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Context: c = Σ αᵢ · hᵢ  → weighted sum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Learns WHICH of the 72 past hours matter most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Interpretable via attention weight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5303520" cy="18288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80560"/>
            <a:ext cx="5303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LSTM +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LSTM(128, 2 layers) → Attention(hidden=128, attn_dim=64) → LayerNorm → FC(128→64→24)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Decoder query: h_n[-1] (last layer hidden state)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Attention over 72 LSTM output states → context vector →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BiLSTM +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BiLSTM(128, 2 layers) → outputs (batch, 72, 256)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Decoder query: cat(h_n[-2], h_n[-1]) = (batch, 256)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Attention over 256-dim bidirectional states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→ LayerNorm(256) → FC(256→128→ReLU→24)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Combines BiLSTM's bidirectional context with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attention's dynamic temporal weighting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303520" cy="18288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480560"/>
            <a:ext cx="530352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INTERPRETABILITY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Both models expose get_attention_weights(x) method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Returns (batch, 72) attention distribution — visualizable as heatmap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Reveals which past hours drive the 24h forecast (e.g., rush hour spikes)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TCN &amp; Transformer — Modern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Convolutional &amp; Self-Attention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TEMPORAL CONVOLUTIONAL NETWORK (TCN)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Architecture: 5 stacked TemporalBlocks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CausalConv1d → ReLU → Dropout → CausalConv1d → + Residual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Key Design: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Causal padding: output at t depends only on t and earlier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Dilations: [1, 2, 4, 8, 16] — exponential growth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Receptive Field: 1 + 2×(3-1)×(1+2+4+8+16) = 125 &gt; 72 ✓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Weight normalization on all conv layers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1×1 conv for residual channel matching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Advantages over RNNs: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Fully parallelizable (no sequential dependency)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Stable gradients (no vanishing/exploding)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O(log n) depth for O(n) receptive field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F8A00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Global avg pooling → FC(64→32→ReLU→24)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TRANSFORMER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Architecture: Encoder-only (Vaswani et al., 2017)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Input → Linear(36→128) × √d_model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Sinusoidal Positional Encoding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→ 3× TransformerEncoderLayer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  (d=128, nhead=8, ff=256, GELU, Pre-LN)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Key Design: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Multi-head self-attention: 8 heads × 16 dim each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Pre-LayerNorm (norm_first=True) — stable training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Causal mask: upper-triangular -inf prevents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  attending to future timesteps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  • GELU activation in feedforward sublayers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d_model % nhead == 0 assertion enforced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7C4DFF"/>
                </a:solidFill>
                <a:latin typeface="Segoe UI"/>
              </a:rPr>
              <a:t>● </a:t>
            </a:r>
            <a:r>
              <a:rPr sz="1100">
                <a:solidFill>
                  <a:srgbClr val="E0E0E0"/>
                </a:solidFill>
                <a:latin typeface="Segoe UI"/>
              </a:rPr>
              <a:t>Global avg pooling → FC(128→64→GELU→24)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Gradient Boosting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XGBoost &amp; LightGBM — Tree-Based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32004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Histogram-based gradient boosting (Chen &amp; Guestrin, 2016)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1000 estimators, max_depth=8, lr=0.05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Regularization: α=0.1, λ=1.0, subsample=0.8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GPU-accelerated via tree_method='hist', device='cuda'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Early stopping: 50 rounds on validation RMSE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Operates on TABULAR features (no sliding windows)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Uses lag + rolling features as autoregressive inputs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Predicts single-step AQI (unlike DL 24-step horizon)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32004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LIGHTGBM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Leaf-wise tree growth (Ke et al., 2017)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1000 estimators, num_leaves=31, max_depth=8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GBDT boosting, RMSE objective, lr=0.05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GPU-accelerated when available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Callbacks API for early stopping + log evaluation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Advantages over XGBoost: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• Faster training with histogram binning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• Better handling of high-cardinality features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• Leaf-wise growth → deeper, more accurate trees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1106424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1106424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29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DL vs GB — KEY DIFFERENCES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9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DL models: Input = (72, 36) sliding window → Output = 24-step horizon | Learn temporal patterns from raw sequences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GB models: Input = 36 tabular features (with lags) → Output = 1-step prediction | Feature engineering drives performance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Both families auto-tuned by Optuna HPO with model-specific search spaces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Hyperparameter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Optuna — Automated, Efficient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OPTUNA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n_trials = 50 per model (450 total trials)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timeout = 3600 seconds (1 hour/model max)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Sampler: TPE (Tree-structured Parzen Estimator)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Pruner: MedianPruner (n_startup=5, n_warmup=10)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Direction: minimize validation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DL MODEL SEARCH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hidden_dim ∈ {32, 64, 128, 256}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num_layers ∈ [1, 4]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dropout ∈ [0.1, 0.5]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learning_rate ∈ [1e-5, 1e-2] (log scale)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scheduler ∈ {cosine, plateau}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3035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30352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GB MODEL SEARCH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n_estimators ∈ [100, 2000]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max_depth ∈ [3, 12]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learning_rate ∈ [0.005, 0.3] (log)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subsample ∈ [0.5, 1.0]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reg_alpha, reg_lambda ∈ [1e-3, 10.0] (log)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30352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MODEL-SPECIFIC SEARCH 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TCN: channels ∈ {32,64,128}, blocks ∈ [3,6], kernel ∈ {3,5,7}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Transformer: d_model ∈ {64,128,256}, nhead ∈ {4,8}, layers ∈ [2,6]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LightGBM: num_leaves ∈ [15,127], boosting ∈ {gbdt, dart}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XGBoost: min_child_weight ∈ [1,20], gamma ∈ [0,5]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Constraint: LightGBM num_leaves &lt; 2^max_depth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Training Strategy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Production-Grade Training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TRAINING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100 epochs (max), early stopping at 15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AdamW optimizer (lr=1e-3, wd=1e-5)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CosineAnnealingLR (eta_min=1e-7)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HuberLoss (δ=1.0): robust to AQI outliers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Gradient clipping: max_norm=1.0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Best model checkpoint saving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4747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47472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GPU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CUDA 12.1 with PyTorch 2.2.2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Automatic Mixed Precision (AMP)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GradScaler for FP16 training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XGBoost: tree_method='hist'+GPU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LightGBM: device='gpu'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config.DEVICE handles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34747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47472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DATA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8745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Chronological split: 70/15/15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NO shuffling (time-series constraint)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Scalers fit on train set ONLY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Val/test use transform-only mode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Negative value clipping post-imputation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All-NaN column guard in preprocessing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06424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106424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REPRODUCIBILITY &amp; SAFEGUARDS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83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Seed control: np.random.seed(42), torch.manual_seed(42), torch.cuda.manual_seed_all(42), cudnn.deterministic=True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Checkpointing: Best model saved to checkpoints/{model_name}_best.pt with optimizer state + scheduler state + epoch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Logging: dual output (stdout + results/pipeline.log) with structured timestamps for debugging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Inverse scaling: predictions + targets inverse-transformed BEFORE metric computation (prevents z-score RMSE/MAE)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Evaluation Metrics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Comprehensive Regression + Classification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REGRESSION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RMSE — Root Mean Squared Error: √(Σ(yᵢ-ŷᵢ)²/n)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  Penalizes large errors; primary ranking metric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MAE — Mean Absolute Error: Σ|yᵢ-ŷᵢ|/n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  Robust to outliers; interpretable in AQI units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R² — Coefficient of Determination: 1 - SS_res/SS_tot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  Proportion of variance explained (target &gt; 0.85)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MAPE — Mean Absolute Percentage Error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  Scale-independent accuracy measure (%)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CLASSIFICATION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AQI values mapped to 6 NAQI categories: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Good (0-50) | Satisfactory (51-100) | Moderate (101-200)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  Poor (201-300) | Very Poor (301-400) | Severe (401-500)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F1_weighted — Weighted by class frequency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F1_macro — Unweighted average across categories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Per-class F1 — Individual category accuracy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Confusion matrix for detailed error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064240" cy="18288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1106424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EVALUATION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All metrics computed on held-out TEST SET only (final 15% = 2,625 hours ≈ 109 days, Sept–Dec 2024)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Predictions inverse-scaled from z-scores back to original AQI scale before metric computation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Complete metric suite: {RMSE, MAE, R², MAPE, F1_weighted, F1_macro} enables multi-dimensional model comparison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Visualization: loss curves, actual-vs-predicted line/scatter, metric heatmap, residual distributions, feature importance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Data Analysis &amp;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122,808 Hourly Records — 2 Years of Hyderabad Air Quality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96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Total Records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122,808 hourly observations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Stations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7 CPCB CAAQMS sites across Hyderabad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Date Range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Jan 1, 2023 — Dec 31, 2024 (731 days)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Missing Values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0 (CAMS reanalysis provides complete coverage)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Features (raw)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17 columns (6 pollutant + 7 meteo + 4 metadata)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Features (engineered)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36 (after temporal encoding + lags + rolling)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Train Split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12,247 hours (Jan 2023 — May 2024)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Validation Split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2,624 hours (May — Sep 2024)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Test Split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2,625 hours (Sep — Dec 2024)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06240"/>
          <a:ext cx="8138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10972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AQI Category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Percentage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Health Impact</a:t>
                      </a:r>
                    </a:p>
                  </a:txBody>
                  <a:tcPr anchor="ctr">
                    <a:solidFill>
                      <a:srgbClr val="00B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0 – 50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22,698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18.5%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Minimal impact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Satisfactory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51 – 100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60,171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49.0%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Minor breathing discomfort for sensitive people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101 – 200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36,670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29.9%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Breathing discomfort for asthmatics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Poor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201 – 300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3,267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Breathing discomfort for most people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Very Poor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301 – 400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&lt;0.01%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Respiratory illness on prolonged exposure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401 – 500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Health emergency; affects healthy people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Frameworks, Libraries &amp;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65176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CORE ML/DL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Python 3.10.13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PyTorch 2.2.2 + CUDA 12.1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scikit-learn 1.5.2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NumPy 1.26.4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96D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Pandas 2.3.3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63040"/>
            <a:ext cx="265176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463040"/>
            <a:ext cx="265176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GRADIENT 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XGBoost 2.0.3 (GPU)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LightGBM 4.6.0 (GPU)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GPU tree_method='hist'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Leaf-wise growth strategy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Early stopping callbacks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5176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651760" cy="381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A00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Optuna 4.7.0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TPE Sampler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MedianPruner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50 trials × 9 models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F8A0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Parallel trial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463040"/>
            <a:ext cx="265176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463040"/>
            <a:ext cx="26517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VISUALIZATION &amp; INFRA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874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Matplotlib 3.9.1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Seaborn 0.13.2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Conda (dl-env)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VS Code + GitHub Copilot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7C4DFF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Multi-agent review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1106424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1106424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Segoe UI"/>
              </a:defRPr>
            </a:pPr>
            <a:r>
              <a:t>HARDWARE &amp; 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83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GPU: NVIDIA CUDA 12.1 compatible | CPU fallback via config.DEVICE (torch.device auto-detection)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Environment: Conda virtual environment 'dl-env' | Python 3.10.13 | Windows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Storage: ~200MB raw data (7 station CSVs) | ~50MB processed pipeline output (pickle) | ~500MB model checkpoints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Multi-Agent Development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11 Specialized AI Agents for Code Quality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961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 anchor="ctr"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Responsibility</a:t>
                      </a:r>
                    </a:p>
                  </a:txBody>
                  <a:tcPr anchor="ctr"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rnn-specialist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models/rnn.py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RNN architecture validation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lstm-specialist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models/lstm.py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 gate mechanics, LayerNorm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bilstm-specialist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models/bilstm.py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 dimension handling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lstm-attention-specialist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models/lstm_attention.py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Attention weight computation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bilstm-attention-specialist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models/bilstm_attention.py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BiLSTM + Attention integration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tcn-specialist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models/tcn.py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Causal convolution, receptive field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transformer-specialist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models/transformer.py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Multi-head attention, causal mask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xgboost-specialist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models/xgboost_model.py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GPU config, feature importance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lightgbm-specialist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models/lightgbm_model.py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Callbacks API, leaf-wise growth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orchestrator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main.py + pipeline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Coordinate training, benchmarking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quality-monitor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All modules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0E0E0"/>
                          </a:solidFill>
                          <a:latin typeface="Segoe UI"/>
                        </a:defRPr>
                      </a:pPr>
                      <a:r>
                        <a:t>Data leakage, convergence validation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120640"/>
            <a:ext cx="11064240" cy="12801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11064240" cy="381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2120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4336"/>
                </a:solidFill>
                <a:latin typeface="Segoe UI"/>
              </a:defRPr>
            </a:pPr>
            <a:r>
              <a:t>CRITICAL BUGS FOUND &amp; FIXED BY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32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KeyError 'feature_cols' → 'feature_names' | y_pred/y_true swap in metrics | shuffle=True on train DataLoader (time-series violation)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44336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No inverse scaling before metrics (z-score RMSE) | All-NaN column propagation | Negative values from interpolation | Metric key case mismatch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Results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Segoe UI"/>
              </a:defRPr>
            </a:pPr>
            <a:r>
              <a:t>Current Status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Segoe UI"/>
              </a:defRPr>
            </a:pPr>
            <a:r>
              <a:t>CURRENT STATUS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✓ 122,808 hourly records collected from 7 stations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✓ Full preprocessing pipeline validated (36 features)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✓ 19 Python modules implemented and reviewed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✓ 11 AI agents validated all model architectures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✓ 8 critical bugs found and fixed pre-training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CAF50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✓ Pipeline ready for training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FUTURE WORK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096D6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→ Execute full model training across all 9 architectures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96D6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→ Run Optuna HPO (50 trials/model, ~450 total trials)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96D6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→ Generate comprehensive benchmark comparison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96D6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→ Ensemble methods: stacking top-3 models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96D6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→ Real-time prediction API deployment (FastAPI)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096D6"/>
                </a:solidFill>
                <a:latin typeface="Segoe UI"/>
              </a:rPr>
              <a:t>● </a:t>
            </a:r>
            <a:r>
              <a:rPr sz="1300">
                <a:solidFill>
                  <a:srgbClr val="E0E0E0"/>
                </a:solidFill>
                <a:latin typeface="Segoe UI"/>
              </a:rPr>
              <a:t>→ Mobile app with push notifications for AQI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064240" cy="18288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1106424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Segoe UI"/>
              </a:defRPr>
            </a:pPr>
            <a:r>
              <a:t>EXPECTED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Identify the best-performing architecture for Hyderabad AQI prediction — hypothesis: BiLSTM+Attention or Transformer will lead DL; XGBoost competitive for tabular features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Achieve R² &gt; 0.85, RMSE &lt; 15 AQI points, F1_weighted &gt; 0.80 for 24-hour forecasts across all seasons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Publishable benchmark: first 9-model comparison on Hyderabad hourly AQ data with Optuna-tuned hyperparameters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0BFA5"/>
                </a:solidFill>
                <a:latin typeface="Segoe UI"/>
              </a:rPr>
              <a:t>● </a:t>
            </a:r>
            <a:r>
              <a:rPr sz="1200">
                <a:solidFill>
                  <a:srgbClr val="E0E0E0"/>
                </a:solidFill>
                <a:latin typeface="Segoe UI"/>
              </a:rPr>
              <a:t>Open-source, reproducible pipeline for other Indian cities (Delhi, Mumbai, Chennai) — only requires changing station coordinates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54096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54096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904" y="0"/>
            <a:ext cx="3054096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34856" y="0"/>
            <a:ext cx="3054096" cy="635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A5"/>
                </a:solidFill>
                <a:latin typeface="Segoe UI"/>
              </a:defRPr>
            </a:pPr>
            <a:r>
              <a:t>Air Quality Index Prediction System — Hyderabad, Telangana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657600"/>
            <a:ext cx="3044952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Sakshith Srihari  •  Kamal Bura  •  Abdul Muttalib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A0"/>
                </a:solidFill>
                <a:latin typeface="Segoe UI"/>
              </a:defRPr>
            </a:pPr>
            <a:r>
              <a:t>1602-22-748-011  •  1602-22-748-302  •  1602-22-748-046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3054096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4952" y="6766560"/>
            <a:ext cx="3054096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6766560"/>
            <a:ext cx="3054096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34856" y="6766560"/>
            <a:ext cx="3054096" cy="635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